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Gupta" userId="2079aa84310fbf95" providerId="LiveId" clId="{79215D88-DE58-4C81-A01E-D8CB13A326E7}"/>
    <pc:docChg chg="modSld">
      <pc:chgData name="Sneha Gupta" userId="2079aa84310fbf95" providerId="LiveId" clId="{79215D88-DE58-4C81-A01E-D8CB13A326E7}" dt="2025-09-21T09:53:04.230" v="9" actId="1076"/>
      <pc:docMkLst>
        <pc:docMk/>
      </pc:docMkLst>
      <pc:sldChg chg="modSp mod">
        <pc:chgData name="Sneha Gupta" userId="2079aa84310fbf95" providerId="LiveId" clId="{79215D88-DE58-4C81-A01E-D8CB13A326E7}" dt="2025-09-21T09:44:40.349" v="8" actId="1076"/>
        <pc:sldMkLst>
          <pc:docMk/>
          <pc:sldMk cId="2320767008" sldId="261"/>
        </pc:sldMkLst>
        <pc:picChg chg="mod">
          <ac:chgData name="Sneha Gupta" userId="2079aa84310fbf95" providerId="LiveId" clId="{79215D88-DE58-4C81-A01E-D8CB13A326E7}" dt="2025-09-21T09:44:40.349" v="8" actId="1076"/>
          <ac:picMkLst>
            <pc:docMk/>
            <pc:sldMk cId="2320767008" sldId="261"/>
            <ac:picMk id="13" creationId="{8CF7F42B-0BC5-2EDC-EBCC-09F880352C11}"/>
          </ac:picMkLst>
        </pc:picChg>
      </pc:sldChg>
      <pc:sldChg chg="modSp mod">
        <pc:chgData name="Sneha Gupta" userId="2079aa84310fbf95" providerId="LiveId" clId="{79215D88-DE58-4C81-A01E-D8CB13A326E7}" dt="2025-09-21T09:53:04.230" v="9" actId="1076"/>
        <pc:sldMkLst>
          <pc:docMk/>
          <pc:sldMk cId="1904288686" sldId="262"/>
        </pc:sldMkLst>
        <pc:spChg chg="mod">
          <ac:chgData name="Sneha Gupta" userId="2079aa84310fbf95" providerId="LiveId" clId="{79215D88-DE58-4C81-A01E-D8CB13A326E7}" dt="2025-09-21T09:53:04.230" v="9" actId="1076"/>
          <ac:spMkLst>
            <pc:docMk/>
            <pc:sldMk cId="1904288686" sldId="262"/>
            <ac:spMk id="3" creationId="{30C3318C-3081-CDF8-67C8-6C13852DF84D}"/>
          </ac:spMkLst>
        </pc:spChg>
      </pc:sldChg>
      <pc:sldChg chg="modSp mod">
        <pc:chgData name="Sneha Gupta" userId="2079aa84310fbf95" providerId="LiveId" clId="{79215D88-DE58-4C81-A01E-D8CB13A326E7}" dt="2025-09-15T08:13:58.578" v="7" actId="207"/>
        <pc:sldMkLst>
          <pc:docMk/>
          <pc:sldMk cId="3952290182" sldId="266"/>
        </pc:sldMkLst>
        <pc:picChg chg="mod">
          <ac:chgData name="Sneha Gupta" userId="2079aa84310fbf95" providerId="LiveId" clId="{79215D88-DE58-4C81-A01E-D8CB13A326E7}" dt="2025-09-15T08:13:58.578" v="7" actId="207"/>
          <ac:picMkLst>
            <pc:docMk/>
            <pc:sldMk cId="3952290182" sldId="266"/>
            <ac:picMk id="5" creationId="{C51B1558-D095-A1F5-F164-A1B8D6D5F4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B442-052C-1F7E-A547-8B90C6B3F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F3E82-BEAE-EE06-8640-487F50A37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A706-1F7B-18CB-1568-7E41C1B6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C7CDF-2A01-E050-1E5E-9DFFE0DE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902AA-862F-6446-1722-B8A75321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96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74A3-A898-8A12-4B85-A7BCCD9D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6C6C-79E8-7F8B-9A32-489AD5DDC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3E565-02A3-E10E-BB67-2C5613D7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38B33-50EC-2049-4E62-377B8F3C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ACEBB-5AB0-3542-DA85-6FA40EE6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1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D8EA-A871-5D5A-56FE-3203703E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4E8F-FFDE-8F21-1517-3C97272E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EA60D-5375-8A65-0F55-4730BCE7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F0F5E-89E6-A4F2-4459-DE01AD39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96907-6AA3-22BC-A836-502B4154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45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7994-6DA4-11BE-48B9-5AC1E891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96E7-5D8B-4D19-A994-C3004F1C3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C070C-EBA5-7033-3E04-F4A3C9AE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7D902-77CE-634A-E5CD-5C98212D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31A-2FCA-2A27-95DD-7F8FD6BD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78100-942A-2A85-6E1F-1C359B6B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9E02-F113-FB33-85FE-40ABF209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D2F56-F428-BF4D-31DD-2328EC574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1DE07-0C51-E26D-B9D3-C892A996E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0CAEE-E9FE-19D4-AE09-B7076D909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41764-51CE-1A08-BBA5-034ED3BB4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13F35-15E2-DCBB-03C9-EE4CC540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01DCB-635C-AB1B-9F81-73430DEE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5B0D1-8394-7C40-6A29-59917F3A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15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D8E0-9991-2F0F-1FAB-4E048DF5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B6565-F815-14B4-E75C-8DE70574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B17C7-C789-F606-1DFA-EC2B0A33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A67BF-99BB-A12C-C349-E2FE231C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6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DB405-8B4D-7379-6E36-41C7EF6F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8F393-DC61-BA5B-4BB2-B0816B7E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DCCFE-506A-1BB0-D6BB-9BA08323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37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FB7E-EA46-0789-8572-4BA438DA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A6172-C402-740B-FDC1-B2F640811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E5E4A-5E62-9C70-20E0-51F74AC6D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6A4B8-1624-A488-AD4E-8159A40B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5A715-5252-7505-0411-9C1F909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8E5AC-A1CD-E0A0-725C-95C9AEA5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71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1DFA-53B0-072A-3343-B8F6CDD1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DFDD3-66EF-FBC3-BA7C-B5BD777B5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E9B62-E635-9BB0-A816-A59777C12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7FA31-67D0-5998-7CF9-7983FE42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B479B-7479-B0D9-6191-554CEAB1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0AAC5-A4DF-9DD9-7CCF-BAEE3378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1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792D-DD44-0C70-E430-D777FDE4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2F609-18A2-7BBD-C229-5A3252EC7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9177-E946-503B-8341-6C192D5D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95490-54F5-C255-725A-33507658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54411-2C3B-EAEF-F084-66408D04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6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95D2A-C3BE-E6B6-DF4F-38B4FDAEF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D8694-E301-E41A-EFC8-8161948C1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EC71-82E2-E0F2-80C9-34C0FF35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467C9-486C-3B32-C7E4-8553A747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D2CCF-E7C2-A45B-60FF-677F6BC9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6A18-F9CB-2937-E45C-FE63E86E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B9E61-1761-C7F4-AB4A-35197E26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4EDD4-53AF-B6DA-71C4-FF297358E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60A33-D0B1-40FE-9691-27D42C15885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9C58-9E92-DAE5-2AE8-43F3E6B85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E77E0-2C5C-27A3-64D6-F65E7C97C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ED6A9-8200-4087-8250-641BFC702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4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xtured wall orange and red abstract background">
            <a:extLst>
              <a:ext uri="{FF2B5EF4-FFF2-40B4-BE49-F238E27FC236}">
                <a16:creationId xmlns:a16="http://schemas.microsoft.com/office/drawing/2014/main" id="{0502AEB8-D215-25C4-D913-D221A2E5D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84DE45E-A2D7-F6DA-B275-962F743E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latin typeface="Algerian" panose="04020705040A02060702" pitchFamily="82" charset="0"/>
              </a:rPr>
              <a:t>PHILOSOPHY OF ENGINEERING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B9E872-F9BF-2384-372F-A7804BC44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Name – Sneha Gupta 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Reg. no – RA2511003010163 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Year/Semester – 1</a:t>
            </a:r>
            <a:r>
              <a:rPr lang="en-US" baseline="30000" dirty="0">
                <a:latin typeface="Algerian" panose="04020705040A02060702" pitchFamily="82" charset="0"/>
              </a:rPr>
              <a:t>st</a:t>
            </a:r>
            <a:endParaRPr lang="en-US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Branch/Section – </a:t>
            </a:r>
            <a:r>
              <a:rPr lang="en-US" dirty="0" err="1">
                <a:latin typeface="Algerian" panose="04020705040A02060702" pitchFamily="82" charset="0"/>
              </a:rPr>
              <a:t>Btech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Cse</a:t>
            </a:r>
            <a:r>
              <a:rPr lang="en-US" dirty="0">
                <a:latin typeface="Algerian" panose="04020705040A02060702" pitchFamily="82" charset="0"/>
              </a:rPr>
              <a:t> Core/ C1 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Academic year – 2025-2026 odd semester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3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0D9D5-C185-6D8B-FD18-CED69E177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783771"/>
            <a:ext cx="5453742" cy="531222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64BA66-DB2B-783B-4DA4-5CE8C5B8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5791200" cy="5121275"/>
          </a:xfrm>
        </p:spPr>
        <p:txBody>
          <a:bodyPr/>
          <a:lstStyle/>
          <a:p>
            <a:r>
              <a:rPr lang="en-IN" b="1" dirty="0">
                <a:latin typeface="Arial Rounded MT Bold" panose="020F0704030504030204" pitchFamily="34" charset="0"/>
              </a:rPr>
              <a:t>The STEAM Pyramid</a:t>
            </a:r>
            <a:br>
              <a:rPr lang="en-IN" b="1" dirty="0">
                <a:latin typeface="Arial Rounded MT Bold" panose="020F0704030504030204" pitchFamily="34" charset="0"/>
              </a:rPr>
            </a:br>
            <a:br>
              <a:rPr lang="en-IN" b="1" dirty="0">
                <a:latin typeface="Arial Rounded MT Bold" panose="020F0704030504030204" pitchFamily="34" charset="0"/>
              </a:rPr>
            </a:br>
            <a:r>
              <a:rPr lang="en-IN" b="1" dirty="0">
                <a:latin typeface="Arial Rounded MT Bold" panose="020F0704030504030204" pitchFamily="34" charset="0"/>
              </a:rPr>
              <a:t>Is ART Necessary?</a:t>
            </a:r>
          </a:p>
        </p:txBody>
      </p:sp>
    </p:spTree>
    <p:extLst>
      <p:ext uri="{BB962C8B-B14F-4D97-AF65-F5344CB8AC3E}">
        <p14:creationId xmlns:p14="http://schemas.microsoft.com/office/powerpoint/2010/main" val="358185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0E8A-3C27-BE91-86CF-67081AB1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Arial Rounded MT Bold" panose="020F0704030504030204" pitchFamily="34" charset="0"/>
              </a:rPr>
              <a:t>What is 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23BF-B4D3-F308-BDDD-DB004BCE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8086" cy="454251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Science: search for truth.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Technology: tools &amp; innovation.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Engineering: applied problem solving.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Mathematics: logic &amp; precision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B15ECE41-D024-C8FA-7573-705444658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57" y="365125"/>
            <a:ext cx="4484914" cy="35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0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ountain stone with orange and yellow gradient">
            <a:extLst>
              <a:ext uri="{FF2B5EF4-FFF2-40B4-BE49-F238E27FC236}">
                <a16:creationId xmlns:a16="http://schemas.microsoft.com/office/drawing/2014/main" id="{756B984C-EE59-A0A2-17E7-8CE3E733B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E9040D-D696-19EE-2304-9F231415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Arial Rounded MT Bold" panose="020F0704030504030204" pitchFamily="34" charset="0"/>
              </a:rPr>
              <a:t>FROM STEM </a:t>
            </a:r>
            <a:r>
              <a:rPr lang="en-IN" sz="54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IN" sz="5400" dirty="0">
                <a:latin typeface="Arial Rounded MT Bold" panose="020F0704030504030204" pitchFamily="34" charset="0"/>
              </a:rPr>
              <a:t> STEAM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EDEF-108C-13FF-1796-12B7E7D8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STEM expanded to STEAM with Arts.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Purpose: add creativity, ethics, and design.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Moves beyond utility → to human impact.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5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extured wall orange and red abstract background">
            <a:extLst>
              <a:ext uri="{FF2B5EF4-FFF2-40B4-BE49-F238E27FC236}">
                <a16:creationId xmlns:a16="http://schemas.microsoft.com/office/drawing/2014/main" id="{8CF7F42B-0BC5-2EDC-EBCC-09F880352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41B558-EE07-5D90-79BC-F464EE26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6" y="365125"/>
            <a:ext cx="10330543" cy="1325563"/>
          </a:xfrm>
        </p:spPr>
        <p:txBody>
          <a:bodyPr/>
          <a:lstStyle/>
          <a:p>
            <a:r>
              <a:rPr lang="en-IN" u="sng" dirty="0">
                <a:latin typeface="Arial Rounded MT Bold" panose="020F0704030504030204" pitchFamily="34" charset="0"/>
              </a:rPr>
              <a:t>SIX LAYERS OF STEAM PYRAMID</a:t>
            </a:r>
            <a:r>
              <a:rPr lang="en-IN" dirty="0">
                <a:latin typeface="Arial Rounded MT Bold" panose="020F0704030504030204" pitchFamily="34" charset="0"/>
              </a:rPr>
              <a:t>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AB5B9E-4945-75C4-7776-EB4DD5FD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Arial Rounded MT Bold" panose="020F0704030504030204" pitchFamily="34" charset="0"/>
              </a:rPr>
              <a:t>There are six layers in STEAM Pyramid.</a:t>
            </a:r>
          </a:p>
          <a:p>
            <a:endParaRPr lang="en-IN" sz="3200" dirty="0">
              <a:latin typeface="Arial Rounded MT Bold" panose="020F0704030504030204" pitchFamily="34" charset="0"/>
            </a:endParaRPr>
          </a:p>
          <a:p>
            <a:r>
              <a:rPr lang="en-IN" sz="3200" dirty="0">
                <a:latin typeface="Arial Rounded MT Bold" panose="020F0704030504030204" pitchFamily="34" charset="0"/>
              </a:rPr>
              <a:t>Mathematics </a:t>
            </a:r>
            <a:r>
              <a:rPr lang="en-IN" sz="32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 Science  Technology  Engineering  Arts</a:t>
            </a:r>
          </a:p>
          <a:p>
            <a:endParaRPr lang="en-IN" sz="3200" dirty="0">
              <a:latin typeface="Arial Rounded MT Bold" panose="020F0704030504030204" pitchFamily="34" charset="0"/>
              <a:sym typeface="Wingdings" panose="05000000000000000000" pitchFamily="2" charset="2"/>
            </a:endParaRPr>
          </a:p>
          <a:p>
            <a:r>
              <a:rPr lang="en-IN" sz="32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The </a:t>
            </a:r>
            <a:r>
              <a:rPr lang="en-IN" sz="3200" dirty="0" err="1">
                <a:latin typeface="Arial Rounded MT Bold" panose="020F0704030504030204" pitchFamily="34" charset="0"/>
                <a:sym typeface="Wingdings" panose="05000000000000000000" pitchFamily="2" charset="2"/>
              </a:rPr>
              <a:t>sixt</a:t>
            </a:r>
            <a:r>
              <a:rPr lang="en-IN" sz="32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 one is integration layer  Combination of all above five layers.</a:t>
            </a:r>
          </a:p>
          <a:p>
            <a:endParaRPr lang="en-IN" sz="3200" dirty="0">
              <a:latin typeface="Arial Rounded MT Bold" panose="020F0704030504030204" pitchFamily="34" charset="0"/>
              <a:sym typeface="Wingdings" panose="05000000000000000000" pitchFamily="2" charset="2"/>
            </a:endParaRPr>
          </a:p>
          <a:p>
            <a:r>
              <a:rPr lang="en-IN" sz="32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Arts works as a </a:t>
            </a:r>
            <a:r>
              <a:rPr lang="en-IN" sz="3200" b="1" dirty="0">
                <a:latin typeface="Arial Rounded MT Bold" panose="020F0704030504030204" pitchFamily="34" charset="0"/>
                <a:sym typeface="Wingdings" panose="05000000000000000000" pitchFamily="2" charset="2"/>
              </a:rPr>
              <a:t>connector </a:t>
            </a:r>
            <a:r>
              <a:rPr lang="en-IN" sz="32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across all layers.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76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0B5F8-E8B3-7362-13AE-FD4DAC05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u="sng" dirty="0">
                <a:latin typeface="Arial Rounded MT Bold" panose="020F0704030504030204" pitchFamily="34" charset="0"/>
              </a:rPr>
              <a:t>Why some reject arts?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318C-3081-CDF8-67C8-6C13852D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564368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Machines run without aesthetics.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Formulas don’t need color.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Priority: efficiency, survival, cost.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Arts seen as non-essential decoration.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28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ured wall orange and red abstract background">
            <a:extLst>
              <a:ext uri="{FF2B5EF4-FFF2-40B4-BE49-F238E27FC236}">
                <a16:creationId xmlns:a16="http://schemas.microsoft.com/office/drawing/2014/main" id="{9E3FCCA6-95C1-6A5E-E004-E8602DE7B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F63A1D-112D-E1B6-E8DA-1EBB3E25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u="sng" dirty="0">
                <a:latin typeface="Arial Rounded MT Bold" panose="020F0704030504030204" pitchFamily="34" charset="0"/>
              </a:rPr>
              <a:t>Why Arts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DBB7-CA51-2C76-18B8-CB2F8AD29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Sparks creativity &amp; innovation.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Improves design, communication, empathy.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Makes technology user-friendly.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Philosophy of engineering → must include human values.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6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wo colleagues planning on board with sticky notes">
            <a:extLst>
              <a:ext uri="{FF2B5EF4-FFF2-40B4-BE49-F238E27FC236}">
                <a16:creationId xmlns:a16="http://schemas.microsoft.com/office/drawing/2014/main" id="{9450CA79-3826-F8F3-B28C-ECFAAFBEE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87A5C0-6170-908C-3861-0EEC63E3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u="sng" dirty="0">
                <a:latin typeface="Arial Rounded MT Bold" panose="020F0704030504030204" pitchFamily="34" charset="0"/>
              </a:rPr>
              <a:t>Case Studies: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4B54B-4230-FC6A-26EA-3F8396C1E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iPhone → tech + artistic design = global success.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Architecture → function + beauty = legacy.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Medical Visualization → science + art = clarity.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5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88F6-D3CF-2C83-E0C2-367DE55A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u="sng" dirty="0">
                <a:latin typeface="Arial Rounded MT Bold" panose="020F0704030504030204" pitchFamily="34" charset="0"/>
              </a:rPr>
              <a:t>Without vs with ARTS: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38BF-F3B0-3B8B-3DF6-FFE4A509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3200" dirty="0">
              <a:latin typeface="Arial Rounded MT Bold" panose="020F0704030504030204" pitchFamily="34" charset="0"/>
            </a:endParaRP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Without Art → Strong but lifeless pyramid.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With Art → Inspiring, human-centered, lasting impact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60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ured wall orange and red abstract background">
            <a:extLst>
              <a:ext uri="{FF2B5EF4-FFF2-40B4-BE49-F238E27FC236}">
                <a16:creationId xmlns:a16="http://schemas.microsoft.com/office/drawing/2014/main" id="{C51B1558-D095-A1F5-F164-A1B8D6D5F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57" y="0"/>
            <a:ext cx="12300857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FA4420-6A8E-201D-1C82-7C80A4A9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latin typeface="Arial Rounded MT Bold" panose="020F0704030504030204" pitchFamily="34" charset="0"/>
              </a:rPr>
              <a:t>Philosophical Angle: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5C8E-37C7-75AE-D93E-71861348D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dirty="0">
                <a:latin typeface="Arial Rounded MT Bold" panose="020F0704030504030204" pitchFamily="34" charset="0"/>
              </a:rPr>
              <a:t>Engineering is not just building things.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It is shaping culture, ethics, and society.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Arts in STEAM reminds us: machines serve people, not the other way around.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9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C62E-DD4F-C268-503E-964D54C4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u="sng" dirty="0"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87FA3-EC45-E42D-10FC-6097452DC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sz="3200" dirty="0">
                <a:latin typeface="Arial Rounded MT Bold" panose="020F0704030504030204" pitchFamily="34" charset="0"/>
              </a:rPr>
              <a:t>Art may not be structurally necessary.</a:t>
            </a:r>
          </a:p>
          <a:p>
            <a:pPr marL="0" indent="0">
              <a:buNone/>
            </a:pPr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But it is philosophically vital.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r>
              <a:rPr lang="en-US" sz="3200" dirty="0">
                <a:latin typeface="Arial Rounded MT Bold" panose="020F0704030504030204" pitchFamily="34" charset="0"/>
              </a:rPr>
              <a:t>STEAM Pyramid = harmony of logic + imagination.</a:t>
            </a:r>
          </a:p>
          <a:p>
            <a:endParaRPr lang="en-US" dirty="0"/>
          </a:p>
          <a:p>
            <a:pPr algn="ctr"/>
            <a:r>
              <a:rPr lang="en-US" dirty="0">
                <a:latin typeface="Algerian" panose="04020705040A02060702" pitchFamily="82" charset="0"/>
              </a:rPr>
              <a:t>“Engineering is not only to construct, but to inspire.”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2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326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Rounded MT Bold</vt:lpstr>
      <vt:lpstr>Calibri</vt:lpstr>
      <vt:lpstr>Calibri Light</vt:lpstr>
      <vt:lpstr>Office Theme</vt:lpstr>
      <vt:lpstr>PHILOSOPHY OF ENGINEERING</vt:lpstr>
      <vt:lpstr>The STEAM Pyramid  Is ART Necessary?</vt:lpstr>
      <vt:lpstr>What is stem?</vt:lpstr>
      <vt:lpstr>FROM STEM  STEAM</vt:lpstr>
      <vt:lpstr>SIX LAYERS OF STEAM PYRAMID:</vt:lpstr>
      <vt:lpstr>Why some reject arts?</vt:lpstr>
      <vt:lpstr>Why Arts matter?</vt:lpstr>
      <vt:lpstr>Case Studies:</vt:lpstr>
      <vt:lpstr>Without vs with ARTS:</vt:lpstr>
      <vt:lpstr>Philosophical Angle: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Gupta</dc:creator>
  <cp:lastModifiedBy>Sneha Gupta</cp:lastModifiedBy>
  <cp:revision>1</cp:revision>
  <dcterms:created xsi:type="dcterms:W3CDTF">2025-08-29T10:08:26Z</dcterms:created>
  <dcterms:modified xsi:type="dcterms:W3CDTF">2025-09-21T09:53:13Z</dcterms:modified>
</cp:coreProperties>
</file>