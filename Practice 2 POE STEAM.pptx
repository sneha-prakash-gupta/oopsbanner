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8C253-CC2A-5E7B-9230-6CF097829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D93B1-E89E-A94D-443B-5FB612843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E5884-67EB-9994-82B1-B246CDD00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3498-CB0C-49EB-9BCB-C1B861FA461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2A867-64E3-B086-71E3-A448FF7C2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8091F-F0F9-0E68-9F1A-BE673F06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C7C6-0F56-451C-B350-13476564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6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68C9D-86F0-28B8-E877-1CA728DC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E59DC-54F5-8D25-7BF3-89C770D08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BFFCA-3705-8CB4-6505-0A379A31D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3498-CB0C-49EB-9BCB-C1B861FA461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54F9C-2C54-3F2F-5694-4A36B04CE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D36BC-9F2A-6827-3C7A-AB07697BD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C7C6-0F56-451C-B350-13476564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792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67426-5242-090A-F3BD-6F06DC6A8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81C01-8665-47B1-34D2-086CFB7F1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0EE7D-80B1-5C38-45D1-4ECB07097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3498-CB0C-49EB-9BCB-C1B861FA461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934A9-126F-EB87-1E4E-6285C5BA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022B0-7F38-4FA9-DE56-CF711A33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C7C6-0F56-451C-B350-13476564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342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01A8-FE9A-82A6-A704-8448F9401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C6C07-A52C-C5C2-F856-3BBA31E9B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1417D7-194E-4E58-590B-F0623A847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BD353-C484-3878-5438-99473E36E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3498-CB0C-49EB-9BCB-C1B861FA461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4E7D8-B7E9-B4EB-6153-F9DA735C5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FD1E9-6FA7-F856-A1A6-DBB22130F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C7C6-0F56-451C-B350-13476564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17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D52E-F82B-4459-CAB3-9E1CFA63C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6EF70-8833-8C7B-25A2-10A335A4C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65022-8394-B29E-F99C-74F573A68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6D765-9458-1E96-449A-0622E0498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8F2011-32D3-AB5C-8D38-CC65C304F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50B44B-F442-E7DF-C3FE-94AC12E0C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3498-CB0C-49EB-9BCB-C1B861FA461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665BB2-6394-FD7A-EBAE-8C0816942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6695F-79B1-6D23-8A4E-8A637FD74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C7C6-0F56-451C-B350-13476564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709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9933B-1F15-A5DB-12CD-0D0ED7B34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F4D4DD-E6B6-E940-14EC-5410B22EF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3498-CB0C-49EB-9BCB-C1B861FA461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30666E-E1BE-5BE3-7B23-5E24CE824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BABE38-55CA-06C6-D047-613D036C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C7C6-0F56-451C-B350-13476564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07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CB2E0C-933F-B7FC-4F60-388A1A430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3498-CB0C-49EB-9BCB-C1B861FA461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9C9EB-B631-CFC7-F260-6E42C007E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E9EA8-8800-3CC5-36DA-0BFBE1631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C7C6-0F56-451C-B350-13476564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21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D3B97-0EE7-82D9-1BB5-3107A2BFC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29ABC-FB96-200E-E192-CABC856E0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C0B32-1CE6-5C49-276C-4A4B3ADF2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2EA73-7B88-C5FE-65D9-D3D21FA4E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3498-CB0C-49EB-9BCB-C1B861FA461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ED50C-2B85-DF98-173E-AE6B372C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4EFE1-3B87-0C5C-9860-288829DC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C7C6-0F56-451C-B350-13476564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248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25089-FBAB-2A7A-458E-66B9A90A1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43073-709E-82BD-CB67-C8B9B55BA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FB6D3-6D38-FFD8-E2C7-406294CAF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771C9-F491-6891-4AD0-963A69B1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3498-CB0C-49EB-9BCB-C1B861FA461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E62AD-2DB0-C12E-6A92-B1E365E30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8640C-F608-0F3D-E029-AD9B1474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C7C6-0F56-451C-B350-13476564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681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4958-BC54-7F74-AE0F-A96B8CF1F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83D57-08F8-B79D-0885-6B88367F2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4CFA1-DF1B-DD95-F2EA-184A29770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3498-CB0C-49EB-9BCB-C1B861FA461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3B71E-D5D2-60FE-7BF3-3E9102DB9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A76A0-8898-5522-CAD1-0B621190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C7C6-0F56-451C-B350-13476564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80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7A8E78-D6CC-C4A6-60CF-66C71E3DE5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DEADF-FA32-11B2-384F-CB3C338F2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98714-8B1D-11E4-2D86-7C5A71C7F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3498-CB0C-49EB-9BCB-C1B861FA461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FB3E2-0337-258F-7BB2-EED68E7BD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1F021-01C6-E808-09A7-CF4838BC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C7C6-0F56-451C-B350-13476564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07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7D446D-C13B-F8A7-1179-9DA9AA1E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486A9-4A19-87D1-9608-03EE29066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D4C0B-D981-9D46-DEFE-4E7493259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C3498-CB0C-49EB-9BCB-C1B861FA461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61A2F-5418-2502-1A7B-627E0055D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4F513-3E1A-CE90-32A2-F7F3B0314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DC7C6-0F56-451C-B350-13476564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65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1061-2B26-496F-D4F9-65787F5CF885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IN" b="1" i="1" dirty="0">
                <a:latin typeface="Algerian" panose="04020705040A02060702" pitchFamily="82" charset="0"/>
              </a:rPr>
              <a:t>PHILOSOPHY OF ENGINEERING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2FB7A-4B29-EDD9-4634-2F0EA563DA6F}"/>
              </a:ext>
            </a:extLst>
          </p:cNvPr>
          <p:cNvSpPr>
            <a:spLocks noGrp="1"/>
          </p:cNvSpPr>
          <p:nvPr>
            <p:ph idx="1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latin typeface="Algerian" panose="04020705040A02060702" pitchFamily="82" charset="0"/>
              </a:rPr>
              <a:t>Name – Sneha Gupta </a:t>
            </a:r>
          </a:p>
          <a:p>
            <a:pPr marL="0" indent="0" algn="ctr">
              <a:buNone/>
            </a:pPr>
            <a:endParaRPr lang="en-US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dirty="0">
                <a:latin typeface="Algerian" panose="04020705040A02060702" pitchFamily="82" charset="0"/>
              </a:rPr>
              <a:t>Reg. no – RA2511003010163 </a:t>
            </a:r>
          </a:p>
          <a:p>
            <a:pPr marL="0" indent="0" algn="ctr">
              <a:buNone/>
            </a:pPr>
            <a:endParaRPr lang="en-IN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IN" sz="3600" dirty="0">
                <a:latin typeface="Algerian" panose="04020705040A02060702" pitchFamily="82" charset="0"/>
              </a:rPr>
              <a:t>Topic – Steam pyramid analysis. Is art context necessary?</a:t>
            </a:r>
          </a:p>
        </p:txBody>
      </p:sp>
    </p:spTree>
    <p:extLst>
      <p:ext uri="{BB962C8B-B14F-4D97-AF65-F5344CB8AC3E}">
        <p14:creationId xmlns:p14="http://schemas.microsoft.com/office/powerpoint/2010/main" val="2770829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04E2-0509-3E77-84EF-C5471495E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INTRODUCTION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BA9AA-815A-40C7-5999-D78DCA332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sz="3200" dirty="0"/>
              <a:t>Engineering is not only technical but also philosophical.</a:t>
            </a:r>
          </a:p>
          <a:p>
            <a:pPr>
              <a:defRPr sz="2000"/>
            </a:pPr>
            <a:r>
              <a:rPr lang="en-US" sz="3200" dirty="0"/>
              <a:t>STEM → STEAM: the shift acknowledges Arts (ethics, creativity, design).</a:t>
            </a:r>
          </a:p>
          <a:p>
            <a:pPr>
              <a:defRPr sz="2000"/>
            </a:pPr>
            <a:r>
              <a:rPr lang="en-US" sz="3200" dirty="0"/>
              <a:t>Pyramid model = hierarchy of disciplines guiding engineering thought.</a:t>
            </a:r>
          </a:p>
          <a:p>
            <a:pPr>
              <a:defRPr sz="2000"/>
            </a:pPr>
            <a:r>
              <a:rPr lang="en-US" sz="3200" dirty="0"/>
              <a:t>Central Question: How do these domains interact to shape engineering as a human endeavor?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0612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A0D2-8843-52E5-DF8D-3D0A379E0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1208313"/>
          </a:xfrm>
          <a:noFill/>
        </p:spPr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STEM to STEAM-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43D2F-EBE2-88D4-944E-2998EB71F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4" y="1284514"/>
            <a:ext cx="10602686" cy="5290457"/>
          </a:xfrm>
        </p:spPr>
        <p:txBody>
          <a:bodyPr>
            <a:normAutofit/>
          </a:bodyPr>
          <a:lstStyle/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/>
              <a:t>Science: searches for truth.</a:t>
            </a:r>
          </a:p>
          <a:p>
            <a:r>
              <a:rPr lang="en-US" sz="3200" dirty="0"/>
              <a:t>Technology: tools &amp; innovation.</a:t>
            </a:r>
          </a:p>
          <a:p>
            <a:r>
              <a:rPr lang="en-US" sz="3200" dirty="0"/>
              <a:t>Engineering: applied problem solving.</a:t>
            </a:r>
          </a:p>
          <a:p>
            <a:r>
              <a:rPr lang="en-US" sz="3200" dirty="0"/>
              <a:t>Mathematics: logic &amp; precision.</a:t>
            </a:r>
            <a:endParaRPr lang="en-IN" sz="3200" dirty="0"/>
          </a:p>
          <a:p>
            <a:pPr marL="0" indent="0">
              <a:buNone/>
              <a:defRPr sz="2000"/>
            </a:pPr>
            <a:endParaRPr lang="en-US" sz="3200" dirty="0"/>
          </a:p>
          <a:p>
            <a:r>
              <a:rPr lang="en-US" dirty="0"/>
              <a:t>STEM expanded to STEAM with Arts.</a:t>
            </a:r>
          </a:p>
          <a:p>
            <a:r>
              <a:rPr lang="en-US" dirty="0"/>
              <a:t>Purpose: add creativity, ethics, and design.</a:t>
            </a:r>
          </a:p>
          <a:p>
            <a:r>
              <a:rPr lang="en-US" dirty="0"/>
              <a:t>Moves beyond utility → to human impact.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3435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69E85-BE6A-75CD-0237-7F501812D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0" y="365125"/>
            <a:ext cx="10417629" cy="1325563"/>
          </a:xfrm>
        </p:spPr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The STEAM Pyramid Model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E3083-4910-8A3F-2817-630337317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/>
              <a:t>Base → Top structure:</a:t>
            </a:r>
          </a:p>
          <a:p>
            <a:pPr>
              <a:defRPr sz="2000"/>
            </a:pPr>
            <a:r>
              <a:rPr lang="en-US" dirty="0"/>
              <a:t>Science (knowledge)</a:t>
            </a:r>
          </a:p>
          <a:p>
            <a:pPr>
              <a:defRPr sz="2000"/>
            </a:pPr>
            <a:r>
              <a:rPr lang="en-US" dirty="0"/>
              <a:t>Technology (tools)</a:t>
            </a:r>
          </a:p>
          <a:p>
            <a:pPr>
              <a:defRPr sz="2000"/>
            </a:pPr>
            <a:r>
              <a:rPr lang="en-US" dirty="0"/>
              <a:t>Engineering (design)</a:t>
            </a:r>
          </a:p>
          <a:p>
            <a:pPr>
              <a:defRPr sz="2000"/>
            </a:pPr>
            <a:r>
              <a:rPr lang="en-US" dirty="0"/>
              <a:t>Arts (creativity/ethics)</a:t>
            </a:r>
          </a:p>
          <a:p>
            <a:pPr>
              <a:defRPr sz="2000"/>
            </a:pPr>
            <a:r>
              <a:rPr lang="en-US" dirty="0"/>
              <a:t>Mathematics (abstract reasoning)</a:t>
            </a:r>
          </a:p>
          <a:p>
            <a:pPr>
              <a:defRPr sz="2000"/>
            </a:pPr>
            <a:r>
              <a:rPr lang="en-US" dirty="0"/>
              <a:t>Hierarchy suggests interdependence: higher layers refine </a:t>
            </a:r>
          </a:p>
          <a:p>
            <a:pPr marL="0" indent="0">
              <a:buNone/>
              <a:defRPr sz="2000"/>
            </a:pPr>
            <a:r>
              <a:rPr lang="en-US" dirty="0"/>
              <a:t>     purpose, lower layers provide foundation.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90E38-9519-BB0C-DD3A-A1D45CDC4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086" y="1825625"/>
            <a:ext cx="4655885" cy="427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56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39E6C-57F3-4E1A-A1F3-FF631EBB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SIX LAYERS OF STEAM PYRAMID 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D2A98-E980-B509-118E-4F2488084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are six layers in STEAM Pyramid.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Mathematics </a:t>
            </a:r>
            <a:r>
              <a:rPr lang="en-IN" dirty="0">
                <a:sym typeface="Wingdings" panose="05000000000000000000" pitchFamily="2" charset="2"/>
              </a:rPr>
              <a:t> Science  Technology  Engineering  Arts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The sixth one is integration layer  Combination of all above five layers.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Arts works as a </a:t>
            </a:r>
            <a:r>
              <a:rPr lang="en-IN" b="1" dirty="0">
                <a:sym typeface="Wingdings" panose="05000000000000000000" pitchFamily="2" charset="2"/>
              </a:rPr>
              <a:t>connector </a:t>
            </a:r>
            <a:r>
              <a:rPr lang="en-IN" dirty="0">
                <a:sym typeface="Wingdings" panose="05000000000000000000" pitchFamily="2" charset="2"/>
              </a:rPr>
              <a:t>across all layers.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9482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E1454-EAC6-6ED3-1328-E65E67B5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6" y="147412"/>
            <a:ext cx="10515600" cy="897618"/>
          </a:xfrm>
        </p:spPr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Science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BEE28-409D-798A-F918-D4A6ABD4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143"/>
            <a:ext cx="10515600" cy="4761819"/>
          </a:xfrm>
        </p:spPr>
        <p:txBody>
          <a:bodyPr>
            <a:normAutofit lnSpcReduction="10000"/>
          </a:bodyPr>
          <a:lstStyle/>
          <a:p>
            <a:pPr>
              <a:defRPr sz="2000"/>
            </a:pPr>
            <a:r>
              <a:rPr lang="en-US" sz="3200" dirty="0"/>
              <a:t>Provides systematic knowledge of natural world.</a:t>
            </a:r>
          </a:p>
          <a:p>
            <a:pPr marL="0" indent="0">
              <a:buNone/>
              <a:defRPr sz="2000"/>
            </a:pPr>
            <a:endParaRPr lang="en-US" sz="3200" dirty="0"/>
          </a:p>
          <a:p>
            <a:pPr>
              <a:defRPr sz="2000"/>
            </a:pPr>
            <a:r>
              <a:rPr lang="en-US" sz="3200" dirty="0"/>
              <a:t>Philosophy: search for truth, causality, empirical laws.</a:t>
            </a:r>
          </a:p>
          <a:p>
            <a:pPr marL="0" indent="0">
              <a:buNone/>
              <a:defRPr sz="2000"/>
            </a:pPr>
            <a:endParaRPr lang="en-US" sz="3200" dirty="0"/>
          </a:p>
          <a:p>
            <a:pPr>
              <a:defRPr sz="2000"/>
            </a:pPr>
            <a:r>
              <a:rPr lang="en-US" sz="3200" dirty="0"/>
              <a:t>Foundation for technology &amp; engineering → without science, no reliable design.</a:t>
            </a:r>
          </a:p>
          <a:p>
            <a:pPr marL="0" indent="0">
              <a:buNone/>
              <a:defRPr sz="2000"/>
            </a:pPr>
            <a:endParaRPr lang="en-US" sz="3200" dirty="0"/>
          </a:p>
          <a:p>
            <a:pPr>
              <a:defRPr sz="2000"/>
            </a:pPr>
            <a:r>
              <a:rPr lang="en-US" sz="3200" dirty="0"/>
              <a:t>Example: Aerodynamics knowledge before building airplanes.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095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86A9-6726-9B80-522B-02E25D879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Technology Layer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F7205-6187-640A-CD49-55557F44D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9089"/>
          </a:xfrm>
        </p:spPr>
        <p:txBody>
          <a:bodyPr/>
          <a:lstStyle/>
          <a:p>
            <a:pPr>
              <a:defRPr sz="2000"/>
            </a:pPr>
            <a:r>
              <a:rPr lang="en-US" sz="3200" dirty="0"/>
              <a:t>Application of scientific knowledge into tools and processes.</a:t>
            </a:r>
          </a:p>
          <a:p>
            <a:pPr marL="0" indent="0">
              <a:buNone/>
              <a:defRPr sz="2000"/>
            </a:pPr>
            <a:endParaRPr lang="en-US" sz="3200" dirty="0"/>
          </a:p>
          <a:p>
            <a:pPr>
              <a:defRPr sz="2000"/>
            </a:pPr>
            <a:r>
              <a:rPr lang="en-US" sz="3200" dirty="0"/>
              <a:t>Philosophy: 'means' to extend human capability.</a:t>
            </a:r>
          </a:p>
          <a:p>
            <a:pPr marL="0" indent="0">
              <a:buNone/>
              <a:defRPr sz="2000"/>
            </a:pPr>
            <a:endParaRPr lang="en-US" sz="3200" dirty="0"/>
          </a:p>
          <a:p>
            <a:pPr>
              <a:defRPr sz="2000"/>
            </a:pPr>
            <a:r>
              <a:rPr lang="en-US" sz="3200" dirty="0"/>
              <a:t>Raises ethical issues: does technology always equal progress?</a:t>
            </a:r>
          </a:p>
          <a:p>
            <a:pPr marL="0" indent="0">
              <a:buNone/>
              <a:defRPr sz="2000"/>
            </a:pPr>
            <a:endParaRPr lang="en-US" sz="3200" dirty="0"/>
          </a:p>
          <a:p>
            <a:pPr>
              <a:defRPr sz="2000"/>
            </a:pPr>
            <a:r>
              <a:rPr lang="en-US" sz="3200" dirty="0"/>
              <a:t>Example: Printing press (spread knowledge) vs. nuclear tech (weapons).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4111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3E496-44CD-2815-A005-60243DC07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Engineering Layer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00890-6B15-0DFE-65C2-91A12B06C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000"/>
            </a:pPr>
            <a:r>
              <a:rPr lang="en-IN" sz="3200" dirty="0"/>
              <a:t>Central to pyramid → synthesizes science + tech into solutions.</a:t>
            </a:r>
          </a:p>
          <a:p>
            <a:pPr marL="0" indent="0">
              <a:buNone/>
              <a:defRPr sz="2000"/>
            </a:pPr>
            <a:endParaRPr lang="en-IN" sz="3200" dirty="0"/>
          </a:p>
          <a:p>
            <a:pPr>
              <a:defRPr sz="2000"/>
            </a:pPr>
            <a:r>
              <a:rPr lang="en-IN" sz="3200" dirty="0"/>
              <a:t>Philosophy: problem-solving with purpose.</a:t>
            </a:r>
          </a:p>
          <a:p>
            <a:pPr marL="0" indent="0">
              <a:buNone/>
              <a:defRPr sz="2000"/>
            </a:pPr>
            <a:endParaRPr lang="en-IN" sz="3200" dirty="0"/>
          </a:p>
          <a:p>
            <a:pPr>
              <a:defRPr sz="2000"/>
            </a:pPr>
            <a:r>
              <a:rPr lang="en-IN" sz="3200" dirty="0"/>
              <a:t>Duality: efficiency vs. responsibility.</a:t>
            </a:r>
          </a:p>
          <a:p>
            <a:pPr marL="0" indent="0">
              <a:buNone/>
              <a:defRPr sz="2000"/>
            </a:pPr>
            <a:endParaRPr lang="en-IN" sz="3200" dirty="0"/>
          </a:p>
          <a:p>
            <a:pPr>
              <a:defRPr sz="2000"/>
            </a:pPr>
            <a:r>
              <a:rPr lang="en-IN" sz="3200" dirty="0"/>
              <a:t>Example: Designing bridges—safe, sustainable, aesthetic.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0650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8D10-071A-8522-6974-7BFE06AEF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Arts Layer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E4C50-7B35-0C7B-C526-21206C1B7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9089"/>
          </a:xfrm>
        </p:spPr>
        <p:txBody>
          <a:bodyPr/>
          <a:lstStyle/>
          <a:p>
            <a:pPr>
              <a:defRPr sz="2000"/>
            </a:pPr>
            <a:r>
              <a:rPr lang="en-US" sz="3200" dirty="0"/>
              <a:t>Adds human dimension → creativity, ethics, values, design aesthetics.</a:t>
            </a:r>
          </a:p>
          <a:p>
            <a:pPr marL="0" indent="0">
              <a:buNone/>
              <a:defRPr sz="2000"/>
            </a:pPr>
            <a:endParaRPr lang="en-US" sz="3200" dirty="0"/>
          </a:p>
          <a:p>
            <a:pPr>
              <a:defRPr sz="2000"/>
            </a:pPr>
            <a:r>
              <a:rPr lang="en-US" sz="3200" dirty="0"/>
              <a:t>Philosophy: engineering is not value-neutral.</a:t>
            </a:r>
          </a:p>
          <a:p>
            <a:pPr marL="0" indent="0">
              <a:buNone/>
              <a:defRPr sz="2000"/>
            </a:pPr>
            <a:endParaRPr lang="en-US" sz="3200" dirty="0"/>
          </a:p>
          <a:p>
            <a:pPr>
              <a:defRPr sz="2000"/>
            </a:pPr>
            <a:r>
              <a:rPr lang="en-US" sz="3200" dirty="0"/>
              <a:t>Arts ensure technology serves human flourishing, not just function.</a:t>
            </a:r>
          </a:p>
          <a:p>
            <a:pPr marL="0" indent="0">
              <a:buNone/>
              <a:defRPr sz="2000"/>
            </a:pPr>
            <a:endParaRPr lang="en-US" sz="3200" dirty="0"/>
          </a:p>
          <a:p>
            <a:pPr>
              <a:defRPr sz="2000"/>
            </a:pPr>
            <a:r>
              <a:rPr lang="en-US" sz="3200" dirty="0"/>
              <a:t>Example: Architecture = fusion of engineering + art.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8426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A7F4-C452-D2FE-9482-6FA13952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Mathematics Layer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D1385-F19A-72BF-9795-D4E8E024A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3518"/>
          </a:xfrm>
        </p:spPr>
        <p:txBody>
          <a:bodyPr/>
          <a:lstStyle/>
          <a:p>
            <a:pPr>
              <a:defRPr sz="2000"/>
            </a:pPr>
            <a:r>
              <a:rPr lang="en-US" sz="3200" dirty="0"/>
              <a:t>Mathematics sits at apex = universal language, abstraction, logic.</a:t>
            </a:r>
          </a:p>
          <a:p>
            <a:pPr marL="0" indent="0">
              <a:buNone/>
              <a:defRPr sz="2000"/>
            </a:pPr>
            <a:endParaRPr lang="en-US" sz="3200" dirty="0"/>
          </a:p>
          <a:p>
            <a:pPr>
              <a:defRPr sz="2000"/>
            </a:pPr>
            <a:r>
              <a:rPr lang="en-US" sz="3200" dirty="0"/>
              <a:t>Philosophy: provides precision, proof, predictability.</a:t>
            </a:r>
          </a:p>
          <a:p>
            <a:pPr marL="0" indent="0">
              <a:buNone/>
              <a:defRPr sz="2000"/>
            </a:pPr>
            <a:endParaRPr lang="en-US" sz="3200" dirty="0"/>
          </a:p>
          <a:p>
            <a:pPr>
              <a:defRPr sz="2000"/>
            </a:pPr>
            <a:r>
              <a:rPr lang="en-US" sz="3200" dirty="0"/>
              <a:t>Engineering relies on math to test, simulate, and model reality.</a:t>
            </a:r>
          </a:p>
          <a:p>
            <a:pPr marL="0" indent="0">
              <a:buNone/>
              <a:defRPr sz="2000"/>
            </a:pPr>
            <a:endParaRPr lang="en-US" sz="3200" dirty="0"/>
          </a:p>
          <a:p>
            <a:pPr>
              <a:defRPr sz="2000"/>
            </a:pPr>
            <a:r>
              <a:rPr lang="en-US" sz="3200" dirty="0"/>
              <a:t>Example: Algorithms → basis of AI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0029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828C3-2F8C-022F-E3BD-F93804136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Why some reject arts? Vs Why Arts matter?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6EFDC1-857E-DFD2-7C2A-AB22BCAF4A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Machines run without aesthetics.</a:t>
            </a:r>
          </a:p>
          <a:p>
            <a:endParaRPr lang="en-US" dirty="0"/>
          </a:p>
          <a:p>
            <a:r>
              <a:rPr lang="en-US" dirty="0"/>
              <a:t>Formulas don’t need color.</a:t>
            </a:r>
          </a:p>
          <a:p>
            <a:endParaRPr lang="en-US" dirty="0"/>
          </a:p>
          <a:p>
            <a:r>
              <a:rPr lang="en-US" dirty="0"/>
              <a:t>Priority: efficiency, survival, cost.</a:t>
            </a:r>
          </a:p>
          <a:p>
            <a:endParaRPr lang="en-US" dirty="0"/>
          </a:p>
          <a:p>
            <a:r>
              <a:rPr lang="en-US" dirty="0"/>
              <a:t>Arts seen as non-essential decoration.</a:t>
            </a:r>
            <a:endParaRPr lang="en-IN" dirty="0"/>
          </a:p>
          <a:p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D03D4BD-2432-B393-EA32-2E035B11AC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Sparks creativity &amp; innovation.</a:t>
            </a:r>
          </a:p>
          <a:p>
            <a:endParaRPr lang="en-US" dirty="0"/>
          </a:p>
          <a:p>
            <a:r>
              <a:rPr lang="en-US" dirty="0"/>
              <a:t>Improves design, communication, empathy.</a:t>
            </a:r>
          </a:p>
          <a:p>
            <a:endParaRPr lang="en-US" dirty="0"/>
          </a:p>
          <a:p>
            <a:r>
              <a:rPr lang="en-US" dirty="0"/>
              <a:t>Makes technology user-friendly.</a:t>
            </a:r>
          </a:p>
          <a:p>
            <a:endParaRPr lang="en-US" dirty="0"/>
          </a:p>
          <a:p>
            <a:r>
              <a:rPr lang="en-US" dirty="0"/>
              <a:t>Philosophy of engineering → must include human values.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027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C38FB-8DD0-B7B5-08F5-3EE5A2C6E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Case Studies 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B15B9-74E8-8180-CEB9-53157C47F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iPhone → tech + artistic design = global success.</a:t>
            </a:r>
          </a:p>
          <a:p>
            <a:endParaRPr lang="en-US" sz="3200" dirty="0"/>
          </a:p>
          <a:p>
            <a:r>
              <a:rPr lang="en-US" sz="3200" dirty="0"/>
              <a:t>Architecture → function + beauty = legacy.</a:t>
            </a:r>
          </a:p>
          <a:p>
            <a:endParaRPr lang="en-US" sz="3200" dirty="0"/>
          </a:p>
          <a:p>
            <a:r>
              <a:rPr lang="en-US" sz="3200" dirty="0"/>
              <a:t>Medical Visualization → science + art = clarity.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5383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6BC2F-2668-5E32-A8B5-85FC56F8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Conclusion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F0D4A-A02A-C4C1-A88D-F44BD16D4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sz="3200" dirty="0"/>
              <a:t>STEAM pyramid highlights engineering as both technical and humanistic.</a:t>
            </a:r>
          </a:p>
          <a:p>
            <a:pPr>
              <a:defRPr sz="2000"/>
            </a:pPr>
            <a:r>
              <a:rPr lang="en-US" sz="3200" dirty="0"/>
              <a:t>Arts are not optional—they ground ethics, aesthetics, and responsibility.</a:t>
            </a:r>
          </a:p>
          <a:p>
            <a:pPr>
              <a:defRPr sz="2000"/>
            </a:pPr>
            <a:r>
              <a:rPr lang="en-US" sz="3200" dirty="0"/>
              <a:t>Philosophy of engineering = guiding compass to ensure progress serves society.</a:t>
            </a:r>
          </a:p>
          <a:p>
            <a:pPr>
              <a:defRPr sz="2000"/>
            </a:pPr>
            <a:r>
              <a:rPr lang="en-US" sz="3200" dirty="0"/>
              <a:t>Final Thought: Engineers must be builders of futures, not just machines.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0562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577</Words>
  <Application>Microsoft Office PowerPoint</Application>
  <PresentationFormat>Widescreen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Arial Rounded MT Bold</vt:lpstr>
      <vt:lpstr>Calibri</vt:lpstr>
      <vt:lpstr>Calibri Light</vt:lpstr>
      <vt:lpstr>Wingdings</vt:lpstr>
      <vt:lpstr>Office Theme</vt:lpstr>
      <vt:lpstr>PHILOSOPHY OF ENGINEERING</vt:lpstr>
      <vt:lpstr>INTRODUCTION -</vt:lpstr>
      <vt:lpstr>STEM to STEAM-</vt:lpstr>
      <vt:lpstr>The STEAM Pyramid Model -</vt:lpstr>
      <vt:lpstr>SIX LAYERS OF STEAM PYRAMID -</vt:lpstr>
      <vt:lpstr>Science Layer</vt:lpstr>
      <vt:lpstr>Technology Layer -</vt:lpstr>
      <vt:lpstr>Engineering Layer -</vt:lpstr>
      <vt:lpstr>Arts Layer -</vt:lpstr>
      <vt:lpstr>Mathematics Layer -</vt:lpstr>
      <vt:lpstr>Why some reject arts? Vs Why Arts matter?</vt:lpstr>
      <vt:lpstr>Case Studies -</vt:lpstr>
      <vt:lpstr>Conclusion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Gupta</dc:creator>
  <cp:lastModifiedBy>Sneha Gupta</cp:lastModifiedBy>
  <cp:revision>3</cp:revision>
  <dcterms:created xsi:type="dcterms:W3CDTF">2025-09-21T09:37:04Z</dcterms:created>
  <dcterms:modified xsi:type="dcterms:W3CDTF">2026-01-29T14:20:21Z</dcterms:modified>
</cp:coreProperties>
</file>